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</p:sldIdLst>
  <p:sldSz cx="12801600" cy="9601200" type="A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03" y="48"/>
      </p:cViewPr>
      <p:guideLst>
        <p:guide orient="horz" pos="3023"/>
        <p:guide pos="40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3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4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2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53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2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98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18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74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8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6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7665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31FAD-087C-4E68-9367-3DBF227CC8D4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A2352-5FF6-475E-B77C-A222D1DBB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0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13" Type="http://schemas.openxmlformats.org/officeDocument/2006/relationships/image" Target="../media/image8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4;p13"/>
          <p:cNvSpPr/>
          <p:nvPr/>
        </p:nvSpPr>
        <p:spPr>
          <a:xfrm>
            <a:off x="1" y="0"/>
            <a:ext cx="12801595" cy="1294075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5996" tIns="95996" rIns="95996" bIns="95996" anchor="ctr" anchorCtr="0">
            <a:noAutofit/>
          </a:bodyPr>
          <a:lstStyle/>
          <a:p>
            <a:pPr lvl="0">
              <a:defRPr/>
            </a:pPr>
            <a:endParaRPr sz="1891"/>
          </a:p>
        </p:txBody>
      </p:sp>
      <p:cxnSp>
        <p:nvCxnSpPr>
          <p:cNvPr id="7" name="Google Shape;56;p13"/>
          <p:cNvCxnSpPr/>
          <p:nvPr/>
        </p:nvCxnSpPr>
        <p:spPr>
          <a:xfrm flipH="1">
            <a:off x="2" y="329836"/>
            <a:ext cx="993515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" name="Google Shape;57;p13"/>
          <p:cNvPicPr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10039515" y="102841"/>
            <a:ext cx="2579088" cy="100253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183001" y="533377"/>
            <a:ext cx="5889754" cy="609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359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논문리뷰 스터디 </a:t>
            </a:r>
            <a:r>
              <a:rPr lang="en-US" altLang="ko-KR" sz="3359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: </a:t>
            </a:r>
            <a:r>
              <a:rPr lang="ko-KR" altLang="en-US" sz="3359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음성</a:t>
            </a:r>
            <a:r>
              <a:rPr lang="en-US" altLang="ko-KR" sz="3359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(Speech)</a:t>
            </a:r>
            <a:endParaRPr lang="ko-KR" altLang="en-US" sz="3359">
              <a:solidFill>
                <a:schemeClr val="bg1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72755" y="759465"/>
            <a:ext cx="2343911" cy="3833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891">
                <a:solidFill>
                  <a:schemeClr val="bg1"/>
                </a:solidFill>
                <a:latin typeface="Pretendard ExtraLight"/>
                <a:ea typeface="Pretendard ExtraLight"/>
                <a:cs typeface="Pretendard ExtraLight"/>
              </a:rPr>
              <a:t>박태순</a:t>
            </a:r>
            <a:r>
              <a:rPr lang="en-US" altLang="ko-KR" sz="1891">
                <a:solidFill>
                  <a:schemeClr val="bg1"/>
                </a:solidFill>
                <a:latin typeface="Pretendard ExtraLight"/>
                <a:ea typeface="Pretendard ExtraLight"/>
                <a:cs typeface="Pretendard ExtraLight"/>
              </a:rPr>
              <a:t>, </a:t>
            </a:r>
            <a:r>
              <a:rPr lang="ko-KR" altLang="en-US" sz="1891">
                <a:solidFill>
                  <a:schemeClr val="bg1"/>
                </a:solidFill>
                <a:latin typeface="Pretendard ExtraLight"/>
                <a:ea typeface="Pretendard ExtraLight"/>
                <a:cs typeface="Pretendard ExtraLight"/>
              </a:rPr>
              <a:t>조민지</a:t>
            </a:r>
            <a:r>
              <a:rPr lang="en-US" altLang="ko-KR" sz="1891">
                <a:solidFill>
                  <a:schemeClr val="bg1"/>
                </a:solidFill>
                <a:latin typeface="Pretendard ExtraLight"/>
                <a:ea typeface="Pretendard ExtraLight"/>
                <a:cs typeface="Pretendard ExtraLight"/>
              </a:rPr>
              <a:t>, </a:t>
            </a:r>
            <a:r>
              <a:rPr lang="ko-KR" altLang="en-US" sz="1891">
                <a:solidFill>
                  <a:schemeClr val="bg1"/>
                </a:solidFill>
                <a:latin typeface="Pretendard ExtraLight"/>
                <a:ea typeface="Pretendard ExtraLight"/>
                <a:cs typeface="Pretendard ExtraLight"/>
              </a:rPr>
              <a:t>최영현</a:t>
            </a:r>
            <a:endParaRPr lang="ko-KR" altLang="en-US" sz="1891">
              <a:solidFill>
                <a:schemeClr val="bg1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3001" y="1554975"/>
            <a:ext cx="2770416" cy="344392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891">
                <a:latin typeface="Pretendard Black"/>
                <a:ea typeface="Pretendard Black"/>
                <a:cs typeface="Pretendard Black"/>
              </a:rPr>
              <a:t>스터디 소개</a:t>
            </a:r>
            <a:endParaRPr lang="ko-KR" altLang="en-US" sz="1891"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83002" y="2032000"/>
            <a:ext cx="2770416" cy="2030676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051202" y="2032000"/>
            <a:ext cx="3120486" cy="7239364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83001" y="4456208"/>
            <a:ext cx="2770416" cy="344392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891">
                <a:latin typeface="Pretendard Black"/>
                <a:ea typeface="Pretendard Black"/>
                <a:cs typeface="Pretendard Black"/>
              </a:rPr>
              <a:t>주제 소개</a:t>
            </a:r>
            <a:endParaRPr lang="ko-KR" altLang="en-US" sz="1891"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83002" y="5015346"/>
            <a:ext cx="2770416" cy="4256018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051200" y="1554975"/>
            <a:ext cx="3120488" cy="344392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>
                <a:latin typeface="Pretendard Black"/>
                <a:ea typeface="Pretendard Black"/>
                <a:cs typeface="Pretendard Black"/>
              </a:rPr>
              <a:t>Automatic Speech Recognition</a:t>
            </a:r>
            <a:endParaRPr lang="en-US" altLang="ko-KR" sz="1500"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0785" y="2175627"/>
            <a:ext cx="2498435" cy="1737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Speech 분야에서 스터디원 각자의 관심사에 따라 논문을 선정하여 리뷰했다. 리뷰한 논문을 설명하고 질의응답을 하는 과정에서 논문에 대한 이해도를 깊게 했다. 본인의 흥미 분야에 국한되지 않고 ASR, TTS, Enhancement</a:t>
            </a:r>
            <a:r>
              <a:rPr lang="en-US" altLang="ko-KR" sz="12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,</a:t>
            </a:r>
            <a:r>
              <a:rPr lang="ko-KR" altLang="en-US" sz="12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music AI</a:t>
            </a:r>
            <a:r>
              <a:rPr lang="ko-KR" altLang="en-US" sz="12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 등 다양한 분야의 논문을 리뷰하며 비전을 확장할 수 있었다.</a:t>
            </a:r>
            <a:endParaRPr lang="ko-KR" altLang="en-US" sz="12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0784" y="5190017"/>
            <a:ext cx="2540922" cy="409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박태순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wav2vec 2.0: A Framework for Self-Supervised Learning of Speech Representations(Baevski et al.)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HuBERT: Self-Supervised Speech Representation Learning by Masked Prediction of Hidden Units(Hsu et al.)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Robust Speech Recognition via Large-Scale Weak Supervision(Radford et al.)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최영현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en-US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Layer-wise Analysis of a Self-supervised Speech Representation Model (Pasad et al.)</a:t>
            </a: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en-US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VITS: Conditional Variational Autoencoder with Adversarial Learning for End-to-End Text-to-Speech (Kim et al.)</a:t>
            </a: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조민지</a:t>
            </a:r>
            <a:endParaRPr lang="ko-KR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en-US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SEGAN: Speech Enhancement Generative Adversarial Network (Pascual et al.)</a:t>
            </a: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en-US" altLang="en-US" sz="900">
                <a:solidFill>
                  <a:schemeClr val="dk1"/>
                </a:solidFill>
                <a:latin typeface="Pretendard ExtraLight"/>
                <a:ea typeface="Pretendard ExtraLight"/>
                <a:cs typeface="Pretendard ExtraLight"/>
              </a:rPr>
              <a:t>DCCRN: Deep Complex Convolution Recurrent Network for Phase-Aware Speech Enhancement (Hu et al.)</a:t>
            </a:r>
            <a:endParaRPr lang="en-US" altLang="en-US" sz="900">
              <a:solidFill>
                <a:schemeClr val="dk1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en-US" altLang="en-US" sz="1000">
              <a:solidFill>
                <a:srgbClr val="c00000"/>
              </a:solidFill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endParaRPr lang="en-US" altLang="en-US" sz="1000">
              <a:solidFill>
                <a:srgbClr val="c00000"/>
              </a:solidFill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498112" y="2032000"/>
            <a:ext cx="3120486" cy="7239364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498110" y="1554975"/>
            <a:ext cx="3120488" cy="344392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891">
                <a:latin typeface="Pretendard Black"/>
                <a:ea typeface="Pretendard Black"/>
                <a:cs typeface="Pretendard Black"/>
              </a:rPr>
              <a:t>Speech Enhancement</a:t>
            </a:r>
            <a:endParaRPr lang="ko-KR" altLang="en-US" sz="1891"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279839" y="2032000"/>
            <a:ext cx="3120486" cy="7239364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279837" y="1554975"/>
            <a:ext cx="3120488" cy="344392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891">
                <a:latin typeface="Pretendard Black"/>
                <a:ea typeface="Pretendard Black"/>
                <a:cs typeface="Pretendard Black"/>
              </a:rPr>
              <a:t>Text-to-Speech (TTS)</a:t>
            </a:r>
            <a:endParaRPr lang="en-US" altLang="ko-KR" sz="1891"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98110" y="2037127"/>
            <a:ext cx="2913854" cy="266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Pretendard Black"/>
                <a:ea typeface="Pretendard Black"/>
              </a:rPr>
              <a:t>SEGAN (Interspeech 2017)</a:t>
            </a:r>
            <a:endParaRPr lang="en-US" altLang="ko-KR" sz="1200" b="1">
              <a:latin typeface="Pretendard Black"/>
              <a:ea typeface="Pretendard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08476" y="5295481"/>
            <a:ext cx="2913854" cy="26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Pretendard Black"/>
                <a:ea typeface="Pretendard Black"/>
              </a:rPr>
              <a:t>DCCRN (Interspeech 2020)</a:t>
            </a:r>
            <a:endParaRPr lang="ko-KR" altLang="en-US" b="1">
              <a:latin typeface="Pretendard Black"/>
              <a:ea typeface="Pretendard Black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l="11950" t="1860" r="12320" b="14300"/>
          <a:stretch>
            <a:fillRect/>
          </a:stretch>
        </p:blipFill>
        <p:spPr>
          <a:xfrm>
            <a:off x="9935158" y="2311188"/>
            <a:ext cx="2137364" cy="29708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rcRect l="1550"/>
          <a:stretch>
            <a:fillRect/>
          </a:stretch>
        </p:blipFill>
        <p:spPr>
          <a:xfrm rot="5400000">
            <a:off x="8498370" y="6808473"/>
            <a:ext cx="3621119" cy="123249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rcRect r="54610"/>
          <a:stretch>
            <a:fillRect/>
          </a:stretch>
        </p:blipFill>
        <p:spPr>
          <a:xfrm>
            <a:off x="11215824" y="5860238"/>
            <a:ext cx="1026400" cy="1448213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6"/>
          <a:srcRect l="54610"/>
          <a:stretch>
            <a:fillRect/>
          </a:stretch>
        </p:blipFill>
        <p:spPr>
          <a:xfrm>
            <a:off x="11215824" y="7441084"/>
            <a:ext cx="1026400" cy="1448213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3209214" y="2234536"/>
            <a:ext cx="2957014" cy="1279477"/>
          </a:xfrm>
          <a:prstGeom prst="rect">
            <a:avLst/>
          </a:prstGeom>
        </p:spPr>
        <p:txBody>
          <a:bodyPr wrap="square"/>
          <a:p>
            <a:pPr>
              <a:defRPr/>
            </a:pPr>
            <a:endParaRPr/>
          </a:p>
        </p:txBody>
      </p:sp>
      <p:sp>
        <p:nvSpPr>
          <p:cNvPr id="34" name=""/>
          <p:cNvSpPr txBox="1"/>
          <p:nvPr/>
        </p:nvSpPr>
        <p:spPr>
          <a:xfrm>
            <a:off x="3081265" y="2035506"/>
            <a:ext cx="3070746" cy="1450074"/>
          </a:xfrm>
          <a:prstGeom prst="rect">
            <a:avLst/>
          </a:prstGeom>
        </p:spPr>
        <p:txBody>
          <a:bodyPr wrap="square"/>
          <a:p>
            <a:pPr marL="0" indent="0" algn="l" defTabSz="116128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Self-Supervised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Learning (SSL)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 기반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ASR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의 발전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Black"/>
              <a:ea typeface="Pretendard Black"/>
            </a:endParaRPr>
          </a:p>
          <a:p>
            <a:pPr marL="0" indent="0" algn="l" defTabSz="116128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Aptos"/>
              <a:ea typeface="맑은 고딕"/>
              <a:cs typeface="맑은 고딕"/>
            </a:endParaRPr>
          </a:p>
          <a:p>
            <a:pPr marL="0" indent="0" algn="l" defTabSz="116128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1. Wav2vec2.0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Black"/>
              <a:ea typeface="Pretendard Black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39818" y="2875558"/>
            <a:ext cx="2924442" cy="1682227"/>
          </a:xfrm>
          <a:prstGeom prst="rect">
            <a:avLst/>
          </a:prstGeom>
        </p:spPr>
      </p:pic>
      <p:sp>
        <p:nvSpPr>
          <p:cNvPr id="36" name=""/>
          <p:cNvSpPr txBox="1"/>
          <p:nvPr/>
        </p:nvSpPr>
        <p:spPr>
          <a:xfrm>
            <a:off x="3123914" y="4800600"/>
            <a:ext cx="2985448" cy="1286586"/>
          </a:xfrm>
          <a:prstGeom prst="rect">
            <a:avLst/>
          </a:prstGeom>
        </p:spPr>
        <p:txBody>
          <a:bodyPr wrap="square"/>
          <a:p>
            <a:pPr>
              <a:defRPr/>
            </a:pPr>
            <a:endParaRPr/>
          </a:p>
        </p:txBody>
      </p:sp>
      <p:sp>
        <p:nvSpPr>
          <p:cNvPr id="37" name=""/>
          <p:cNvSpPr txBox="1"/>
          <p:nvPr/>
        </p:nvSpPr>
        <p:spPr>
          <a:xfrm>
            <a:off x="3095482" y="4594462"/>
            <a:ext cx="3084961" cy="1066231"/>
          </a:xfrm>
          <a:prstGeom prst="rect">
            <a:avLst/>
          </a:prstGeom>
        </p:spPr>
        <p:txBody>
          <a:bodyPr wrap="square"/>
          <a:p>
            <a:pPr marL="0" indent="0" algn="l" defTabSz="116128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2. Hubert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Black"/>
              <a:ea typeface="Pretendard Black"/>
            </a:endParaRPr>
          </a:p>
        </p:txBody>
      </p:sp>
      <p:pic>
        <p:nvPicPr>
          <p:cNvPr id="3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109638" y="4800600"/>
            <a:ext cx="2882227" cy="1442393"/>
          </a:xfrm>
          <a:prstGeom prst="rect">
            <a:avLst/>
          </a:prstGeom>
        </p:spPr>
      </p:pic>
      <p:sp>
        <p:nvSpPr>
          <p:cNvPr id="39" name=""/>
          <p:cNvSpPr txBox="1"/>
          <p:nvPr/>
        </p:nvSpPr>
        <p:spPr>
          <a:xfrm>
            <a:off x="3088632" y="6271999"/>
            <a:ext cx="2992297" cy="781903"/>
          </a:xfrm>
          <a:prstGeom prst="rect">
            <a:avLst/>
          </a:prstGeom>
        </p:spPr>
        <p:txBody>
          <a:bodyPr wrap="square"/>
          <a:p>
            <a:pPr marL="0" indent="0" algn="l" defTabSz="116128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Black"/>
                <a:ea typeface="Pretendard Black"/>
              </a:rPr>
              <a:t>3. Whisper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Black"/>
              <a:ea typeface="Pretendard Black"/>
            </a:endParaRPr>
          </a:p>
        </p:txBody>
      </p:sp>
      <p:pic>
        <p:nvPicPr>
          <p:cNvPr id="40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092846" y="6574960"/>
            <a:ext cx="2996408" cy="2576586"/>
          </a:xfrm>
          <a:prstGeom prst="rect">
            <a:avLst/>
          </a:prstGeom>
        </p:spPr>
      </p:pic>
      <p:sp>
        <p:nvSpPr>
          <p:cNvPr id="45" name=""/>
          <p:cNvSpPr txBox="1"/>
          <p:nvPr/>
        </p:nvSpPr>
        <p:spPr>
          <a:xfrm>
            <a:off x="6301220" y="2042680"/>
            <a:ext cx="1575953" cy="2985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400">
                <a:latin typeface="Pretendard SemiBold"/>
                <a:ea typeface="Pretendard SemiBold"/>
                <a:cs typeface="Pretendard SemiBold"/>
              </a:rPr>
              <a:t>TTS Timeline</a:t>
            </a:r>
            <a:endParaRPr lang="en-US" altLang="ko-KR" sz="1400"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6" name="Picture 2" descr="Generated image 1"/>
          <p:cNvPicPr>
            <a:picLocks noChangeAspect="1" noChangeArrowheads="1"/>
          </p:cNvPicPr>
          <p:nvPr/>
        </p:nvPicPr>
        <p:blipFill rotWithShape="1">
          <a:blip r:embed="rId10"/>
          <a:srcRect t="10150" b="68950"/>
          <a:stretch>
            <a:fillRect/>
          </a:stretch>
        </p:blipFill>
        <p:spPr>
          <a:xfrm>
            <a:off x="6305550" y="2405946"/>
            <a:ext cx="2968904" cy="1111577"/>
          </a:xfrm>
          <a:prstGeom prst="rect">
            <a:avLst/>
          </a:prstGeom>
          <a:noFill/>
        </p:spPr>
      </p:pic>
      <p:sp>
        <p:nvSpPr>
          <p:cNvPr id="47" name="TextBox 4"/>
          <p:cNvSpPr txBox="1"/>
          <p:nvPr/>
        </p:nvSpPr>
        <p:spPr>
          <a:xfrm>
            <a:off x="6305777" y="3397072"/>
            <a:ext cx="25058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>
                <a:latin typeface="Pretendard SemiBold"/>
                <a:ea typeface="Pretendard SemiBold"/>
                <a:cs typeface="Pretendard SemiBold"/>
              </a:rPr>
              <a:t>VITS Architecture Overview</a:t>
            </a:r>
            <a:endParaRPr lang="en-US" altLang="ko-KR" sz="1400">
              <a:latin typeface="Pretendard ExtraLight"/>
              <a:ea typeface="Pretendard ExtraLight"/>
              <a:cs typeface="Pretendard ExtraLight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305550" y="3702973"/>
            <a:ext cx="3273139" cy="21942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VAE + Normalizing Flow + GAN 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을 결합한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End-to-End TTS</a:t>
            </a:r>
            <a:endParaRPr/>
          </a:p>
        </p:txBody>
      </p:sp>
      <p:pic>
        <p:nvPicPr>
          <p:cNvPr id="51" name="Picture 8"/>
          <p:cNvPicPr>
            <a:picLocks noChangeAspect="1"/>
          </p:cNvPicPr>
          <p:nvPr/>
        </p:nvPicPr>
        <p:blipFill rotWithShape="1">
          <a:blip r:embed="rId11"/>
          <a:srcRect b="8840"/>
          <a:stretch>
            <a:fillRect/>
          </a:stretch>
        </p:blipFill>
        <p:spPr>
          <a:xfrm>
            <a:off x="6400800" y="3880878"/>
            <a:ext cx="2870200" cy="2160061"/>
          </a:xfrm>
          <a:prstGeom prst="rect">
            <a:avLst/>
          </a:prstGeom>
        </p:spPr>
      </p:pic>
      <p:pic>
        <p:nvPicPr>
          <p:cNvPr id="52" name="Picture 4"/>
          <p:cNvPicPr>
            <a:picLocks noChangeAspect="1" noChangeArrowheads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6340525" y="5988251"/>
            <a:ext cx="3009462" cy="418900"/>
          </a:xfrm>
          <a:prstGeom prst="rect">
            <a:avLst/>
          </a:prstGeom>
          <a:noFill/>
        </p:spPr>
      </p:pic>
      <p:sp>
        <p:nvSpPr>
          <p:cNvPr id="55" name="TextBox 1"/>
          <p:cNvSpPr txBox="1"/>
          <p:nvPr/>
        </p:nvSpPr>
        <p:spPr>
          <a:xfrm>
            <a:off x="6293672" y="6407151"/>
            <a:ext cx="289374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학습 시 두 경로가 동시에 작동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:</a:t>
            </a: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ko-KR" altLang="en-US" sz="900" b="1">
                <a:latin typeface="Pretendard ExtraLight"/>
                <a:ea typeface="Pretendard ExtraLight"/>
                <a:cs typeface="Pretendard ExtraLight"/>
              </a:rPr>
              <a:t>텍스트 경로 </a:t>
            </a:r>
            <a:r>
              <a:rPr lang="en-US" altLang="ko-KR" sz="900" b="1">
                <a:latin typeface="Pretendard ExtraLight"/>
                <a:ea typeface="Pretendard ExtraLight"/>
                <a:cs typeface="Pretendard ExtraLight"/>
              </a:rPr>
              <a:t>(Prior)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: 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텍스트만 보고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!</a:t>
            </a: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ko-KR" altLang="en-US" sz="900" b="1">
                <a:latin typeface="Pretendard ExtraLight"/>
                <a:ea typeface="Pretendard ExtraLight"/>
                <a:cs typeface="Pretendard ExtraLight"/>
              </a:rPr>
              <a:t>음성 경로 </a:t>
            </a:r>
            <a:r>
              <a:rPr lang="en-US" altLang="ko-KR" sz="900" b="1">
                <a:latin typeface="Pretendard ExtraLight"/>
                <a:ea typeface="Pretendard ExtraLight"/>
                <a:cs typeface="Pretendard ExtraLight"/>
              </a:rPr>
              <a:t>(Posterior)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: 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실제 음성을 보고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!</a:t>
            </a: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  <a:p>
            <a:pPr marL="171450" indent="-171450">
              <a:buFont typeface="Arial"/>
              <a:buChar char="•"/>
              <a:defRPr/>
            </a:pP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en-US" altLang="ko-KR" sz="900" u="sng">
                <a:latin typeface="Pretendard ExtraLight"/>
                <a:ea typeface="Pretendard ExtraLight"/>
                <a:cs typeface="Pretendard ExtraLight"/>
              </a:rPr>
              <a:t>KL Divergence</a:t>
            </a:r>
            <a:r>
              <a:rPr lang="ko-KR" altLang="en-US" sz="900" u="sng">
                <a:latin typeface="Pretendard ExtraLight"/>
                <a:ea typeface="Pretendard ExtraLight"/>
                <a:cs typeface="Pretendard ExtraLight"/>
              </a:rPr>
              <a:t>로 두 경로를 정렬해</a:t>
            </a:r>
            <a:r>
              <a:rPr lang="en-US" altLang="ko-KR" sz="900" u="sng">
                <a:latin typeface="Pretendard ExtraLight"/>
                <a:ea typeface="Pretendard ExtraLight"/>
                <a:cs typeface="Pretendard ExtraLight"/>
              </a:rPr>
              <a:t>,</a:t>
            </a:r>
            <a:r>
              <a:rPr lang="ko-KR" altLang="en-US" sz="900" u="sng">
                <a:latin typeface="Pretendard ExtraLight"/>
                <a:ea typeface="Pretendard ExtraLight"/>
                <a:cs typeface="Pretendard ExtraLight"/>
              </a:rPr>
              <a:t> 추론 시 텍스트만으로도</a:t>
            </a:r>
            <a:br>
              <a:rPr lang="en-US" altLang="ko-KR" sz="900" u="sng">
                <a:latin typeface="Pretendard ExtraLight"/>
                <a:ea typeface="Pretendard ExtraLight"/>
                <a:cs typeface="Pretendard ExtraLight"/>
              </a:rPr>
            </a:br>
            <a:r>
              <a:rPr lang="ko-KR" altLang="en-US" sz="900" u="sng">
                <a:latin typeface="Pretendard ExtraLight"/>
                <a:ea typeface="Pretendard ExtraLight"/>
                <a:cs typeface="Pretendard ExtraLight"/>
              </a:rPr>
              <a:t>자연스러운 음성 생성 가능 </a:t>
            </a:r>
            <a:endParaRPr lang="en-US" altLang="ko-KR" sz="900" u="sng">
              <a:latin typeface="Pretendard ExtraLight"/>
              <a:ea typeface="Pretendard ExtraLight"/>
              <a:cs typeface="Pretendard ExtraLight"/>
            </a:endParaRPr>
          </a:p>
        </p:txBody>
      </p:sp>
      <p:pic>
        <p:nvPicPr>
          <p:cNvPr id="56" name="Picture 2" descr="Generated image 1"/>
          <p:cNvPicPr>
            <a:picLocks noChangeAspect="1" noChangeArrowheads="1"/>
          </p:cNvPicPr>
          <p:nvPr/>
        </p:nvPicPr>
        <p:blipFill rotWithShape="1">
          <a:blip r:embed="rId13"/>
          <a:srcRect t="69890" b="6360"/>
          <a:stretch>
            <a:fillRect/>
          </a:stretch>
        </p:blipFill>
        <p:spPr>
          <a:xfrm>
            <a:off x="6340525" y="7372496"/>
            <a:ext cx="3018108" cy="1284153"/>
          </a:xfrm>
          <a:prstGeom prst="rect">
            <a:avLst/>
          </a:prstGeom>
          <a:noFill/>
        </p:spPr>
      </p:pic>
      <p:sp>
        <p:nvSpPr>
          <p:cNvPr id="59" name="TextBox 22"/>
          <p:cNvSpPr txBox="1"/>
          <p:nvPr/>
        </p:nvSpPr>
        <p:spPr>
          <a:xfrm>
            <a:off x="6326402" y="8663627"/>
            <a:ext cx="30812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 b="1">
                <a:solidFill>
                  <a:srgbClr val="c00000"/>
                </a:solidFill>
                <a:latin typeface="Pretendard ExtraLight"/>
                <a:ea typeface="Pretendard ExtraLight"/>
                <a:cs typeface="Pretendard ExtraLight"/>
              </a:rPr>
              <a:t>VITS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= 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사람 녹음과 거의 구분 불가능한 최초의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one-stage TTS.</a:t>
            </a: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  <a:p>
            <a:pPr lvl="0">
              <a:defRPr/>
            </a:pP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이후 </a:t>
            </a:r>
            <a:r>
              <a:rPr lang="en-US" altLang="ko-KR" sz="900">
                <a:latin typeface="Pretendard ExtraLight"/>
                <a:ea typeface="Pretendard ExtraLight"/>
                <a:cs typeface="Pretendard ExtraLight"/>
              </a:rPr>
              <a:t>TTS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는 </a:t>
            </a:r>
            <a:r>
              <a:rPr lang="ko-KR" altLang="en-US" sz="900" b="1">
                <a:solidFill>
                  <a:srgbClr val="00b050"/>
                </a:solidFill>
                <a:latin typeface="Pretendard ExtraLight"/>
                <a:ea typeface="Pretendard ExtraLight"/>
                <a:cs typeface="Pretendard ExtraLight"/>
              </a:rPr>
              <a:t>품질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에서 </a:t>
            </a:r>
            <a:r>
              <a:rPr lang="ko-KR" altLang="en-US" sz="900">
                <a:solidFill>
                  <a:schemeClr val="accent5"/>
                </a:solidFill>
                <a:latin typeface="Pretendard ExtraLight"/>
                <a:ea typeface="Pretendard ExtraLight"/>
                <a:cs typeface="Pretendard ExtraLight"/>
              </a:rPr>
              <a:t>범용성</a:t>
            </a:r>
            <a:r>
              <a:rPr lang="ko-KR" altLang="en-US" sz="900">
                <a:latin typeface="Pretendard ExtraLight"/>
                <a:ea typeface="Pretendard ExtraLight"/>
                <a:cs typeface="Pretendard ExtraLight"/>
              </a:rPr>
              <a:t>의 시대로 진입한다</a:t>
            </a:r>
            <a:endParaRPr lang="en-US" altLang="ko-KR" sz="900">
              <a:latin typeface="Pretendard ExtraLight"/>
              <a:ea typeface="Pretendard ExtraLight"/>
              <a:cs typeface="Pretendard Extra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206</ep:Words>
  <ep:PresentationFormat>A3 용지(297x420mm)</ep:PresentationFormat>
  <ep:Paragraphs>33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2026-05-08T20:27:01.000</dcterms:created>
  <dc:creator>양재영</dc:creator>
  <cp:lastModifiedBy>oksow</cp:lastModifiedBy>
  <dcterms:modified xsi:type="dcterms:W3CDTF">2026-05-17T12:32:06.501</dcterms:modified>
  <cp:revision>20</cp:revision>
  <cp:version/>
</cp:coreProperties>
</file>